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주류 ERP 시스템 화면정의서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Markdown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매입처 등록 및 관리 (`INFO-MNG-0200`)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1800"/>
            </a:pPr>
            <a:r>
              <a:t>1.1. 화면 레이아웃</a:t>
            </a:r>
          </a:p>
          <a:p>
            <a:pPr lvl="1">
              <a:defRPr sz="1400"/>
            </a:pPr>
            <a:r>
              <a:t>  좌측 (목록 영역): 매입처 검색 조건 (검색어, 사용여부) 및 검색 결과 그리드 리스트</a:t>
            </a:r>
          </a:p>
          <a:p>
            <a:pPr lvl="1">
              <a:defRPr sz="1400"/>
            </a:pPr>
            <a:r>
              <a:t>  우측 (상세 영역): 선택된 매입처의 상세 정보 입력 폼</a:t>
            </a:r>
          </a:p>
          <a:p>
            <a:pPr lvl="1">
              <a:defRPr sz="1400"/>
            </a:pPr>
            <a:r>
              <a:t>  상단 (버튼 영역): `[신규]`, `[저장]`, `[삭제]`, `[변경이력 조회]`</a:t>
            </a:r>
          </a:p>
          <a:p>
            <a:pPr>
              <a:defRPr b="1" sz="1800"/>
            </a:pPr>
            <a:r>
              <a:t>1.2. 입력 항목 (상세 영역)</a:t>
            </a:r>
          </a:p>
          <a:p>
            <a:pPr lvl="1">
              <a:defRPr sz="1400"/>
            </a:pPr>
            <a:r>
              <a:t>  기본 정보: 매입처코드(자동생성), 매입처명(필수), 사업자번호(필수, 이력대상, 중복불가, PK사용불가), 주류도매업 면허번호</a:t>
            </a:r>
          </a:p>
          <a:p>
            <a:pPr lvl="1">
              <a:defRPr sz="1400"/>
            </a:pPr>
            <a:r>
              <a:t>  연락 정보: 대표자명, 담당자명, 연락처, 이메일, 주소</a:t>
            </a:r>
          </a:p>
          <a:p>
            <a:pPr lvl="1">
              <a:defRPr sz="1400"/>
            </a:pPr>
            <a:r>
              <a:t>  계좌 정보: 은행명, 계좌번호, 예금주</a:t>
            </a:r>
          </a:p>
          <a:p>
            <a:pPr lvl="1">
              <a:defRPr sz="1400"/>
            </a:pPr>
            <a:r>
              <a:t>  상태: 사용여부 (사용/중지)</a:t>
            </a:r>
          </a:p>
          <a:p>
            <a:pPr>
              <a:defRPr b="1" sz="1800"/>
            </a:pPr>
            <a:r>
              <a:t>1.3. 주요 기능/처리 로직</a:t>
            </a:r>
          </a:p>
          <a:p>
            <a:pPr lvl="1">
              <a:defRPr sz="1400"/>
            </a:pPr>
            <a:r>
              <a:t>  저장 로직: 신규 등록 및 수정 시 데이터 검증(사업자번호 정규식 등). 수정 발생 시 기존 데이터와 비교하여 변경된 컬럼이 있을 경우 `History Log` 테이블에 자동 Insert.</a:t>
            </a:r>
          </a:p>
          <a:p>
            <a:pPr lvl="1">
              <a:defRPr sz="1400"/>
            </a:pPr>
            <a:r>
              <a:t>  변경이력 조회: `[변경이력 조회]` 버튼 클릭 시 `SYS-HSTRY-0100` 팝업을 호출하여 해당 매입처의 모든 변경 이력을 리스트업.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매출처 등록 및 관리 (`INFO-MNG-0300`)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1800"/>
            </a:pPr>
            <a:r>
              <a:t>2.1. 화면 레이아웃</a:t>
            </a:r>
          </a:p>
          <a:p>
            <a:pPr lvl="1">
              <a:defRPr sz="1400"/>
            </a:pPr>
            <a:r>
              <a:t>  좌측 (목록 영역): 매출처 검색 조건 및 검색 결과 그리드 리스트</a:t>
            </a:r>
          </a:p>
          <a:p>
            <a:pPr lvl="1">
              <a:defRPr sz="1400"/>
            </a:pPr>
            <a:r>
              <a:t>  우측 (상세 영역): 선택된 매출처의 상세 정보 입력 폼</a:t>
            </a:r>
          </a:p>
          <a:p>
            <a:pPr lvl="1">
              <a:defRPr sz="1400"/>
            </a:pPr>
            <a:r>
              <a:t>  상단 (버튼 영역): `[신규]`, `[저장]`, `[삭제]`, `[변경이력 조회]`</a:t>
            </a:r>
          </a:p>
          <a:p>
            <a:pPr>
              <a:defRPr b="1" sz="1800"/>
            </a:pPr>
            <a:r>
              <a:t>2.2. 입력 항목 (상세 영역)</a:t>
            </a:r>
          </a:p>
          <a:p>
            <a:pPr lvl="1">
              <a:defRPr sz="1400"/>
            </a:pPr>
            <a:r>
              <a:t>  기본 정보: 매출처코드(자동생성), 매출처명(필수), 사업자번호(필수, 이력대상, PK사용불가), 지점코드(전자세금계산서 연동용, 4자리 숫자 등 규칙 적용), 면허번호</a:t>
            </a:r>
          </a:p>
          <a:p>
            <a:pPr lvl="1">
              <a:defRPr sz="1400"/>
            </a:pPr>
            <a:r>
              <a:t>  연락 정보: 대표자명, 영업담당자(자사 직원 드롭다운), 연락처, 이메일, 주소</a:t>
            </a:r>
          </a:p>
          <a:p>
            <a:pPr lvl="1">
              <a:defRPr sz="1400"/>
            </a:pPr>
            <a:r>
              <a:t>  상태: 사용여부 (사용/중지)</a:t>
            </a:r>
          </a:p>
          <a:p>
            <a:pPr>
              <a:defRPr b="1" sz="1800"/>
            </a:pPr>
            <a:r>
              <a:t>2.3. 주요 기능/처리 로직</a:t>
            </a:r>
          </a:p>
          <a:p>
            <a:pPr lvl="1">
              <a:defRPr sz="1400"/>
            </a:pPr>
            <a:r>
              <a:t>  매입처 등록 화면과 동일한 이력관리 저장 로직 수행.</a:t>
            </a:r>
          </a:p>
          <a:p>
            <a:pPr lvl="1">
              <a:defRPr sz="1400"/>
            </a:pPr>
            <a:r>
              <a:t>  전자세금계산서 발행 시 여기서 등록된 '사업자번호 + 지점코드'가 세금계산서 수불부 정보로 자동 맵핑됨.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상품 등록 및 관리 (`INFO-MNG-0400`)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1800"/>
            </a:pPr>
            <a:r>
              <a:t>3.1. 화면 레이아웃</a:t>
            </a:r>
          </a:p>
          <a:p>
            <a:pPr lvl="1">
              <a:defRPr sz="1400"/>
            </a:pPr>
            <a:r>
              <a:t>  상단 (검색 영역): 분류, 상품명, 바코드, 과세여부 검색 조건</a:t>
            </a:r>
          </a:p>
          <a:p>
            <a:pPr lvl="1">
              <a:defRPr sz="1400"/>
            </a:pPr>
            <a:r>
              <a:t>  중단 (목록 영역): 검색된 상품 리스트 그리드</a:t>
            </a:r>
          </a:p>
          <a:p>
            <a:pPr lvl="1">
              <a:defRPr sz="1400"/>
            </a:pPr>
            <a:r>
              <a:t>  하단 (상세 영역): 선택된 상품의 상세 정보 및 가격 정보 입력 폼 (탭 구조: 기본정보 / 금액정보)</a:t>
            </a:r>
          </a:p>
          <a:p>
            <a:pPr lvl="1">
              <a:defRPr sz="1400"/>
            </a:pPr>
            <a:r>
              <a:t>  우측 상단 (버튼 영역): `[신규]`, `[저장]`, `[삭제]`, `[변경이력 조회]`</a:t>
            </a:r>
          </a:p>
          <a:p>
            <a:pPr>
              <a:defRPr b="1" sz="1800"/>
            </a:pPr>
            <a:r>
              <a:t>3.2. 입력 항목 (상세 영역)</a:t>
            </a:r>
          </a:p>
          <a:p>
            <a:pPr lvl="1">
              <a:defRPr sz="1400"/>
            </a:pPr>
            <a:r>
              <a:t>  [기본정보 탭]</a:t>
            </a:r>
          </a:p>
          <a:p>
            <a:pPr lvl="2">
              <a:defRPr sz="1200"/>
            </a:pPr>
            <a:r>
              <a:t>  상품코드(자동/수동), 바코드, 상품명(필수), 분류(소주, 맥주, 양주 등), 용량(ml), 알코올 도수(%)</a:t>
            </a:r>
          </a:p>
          <a:p>
            <a:pPr lvl="2">
              <a:defRPr sz="1200"/>
            </a:pPr>
            <a:r>
              <a:t>  단위: BOX, EA, 본 (드롭다운 선택)</a:t>
            </a:r>
          </a:p>
          <a:p>
            <a:pPr lvl="2">
              <a:defRPr sz="1200"/>
            </a:pPr>
            <a:r>
              <a:t>  세무 속성: 과세/면세 여부 (라디오 버튼)</a:t>
            </a:r>
          </a:p>
          <a:p>
            <a:pPr lvl="2">
              <a:defRPr sz="1200"/>
            </a:pPr>
            <a:r>
              <a:t>  부가세율: 기본값 10% 셋팅, 필요시 수정 가능토록 숫자 입력 필드 (예: 향후 세율 변경 및 특수 주류/비주류 세법 적용 시 대비)</a:t>
            </a:r>
          </a:p>
          <a:p>
            <a:pPr lvl="1">
              <a:defRPr sz="1400"/>
            </a:pPr>
            <a:r>
              <a:t>  [금액정보 탭]</a:t>
            </a:r>
          </a:p>
          <a:p>
            <a:pPr lvl="2">
              <a:defRPr sz="1200"/>
            </a:pPr>
            <a:r>
              <a:t>  매입 단가: 매입 공급가, 매입 부가세(부가세율에 따라 자동계산 및 수동수정), 매입 합계</a:t>
            </a:r>
          </a:p>
          <a:p>
            <a:pPr lvl="2">
              <a:defRPr sz="1200"/>
            </a:pPr>
            <a:r>
              <a:t>  매출 단가: 매출 공급가, 매출 부가세(부가세율에 따라 자동계산 및 수동수정), 매출 합계</a:t>
            </a:r>
          </a:p>
          <a:p>
            <a:pPr lvl="2">
              <a:defRPr sz="1200"/>
            </a:pPr>
            <a:r>
              <a:t>  공병 보증금: 1본당 공병 보증금액 입력</a:t>
            </a:r>
          </a:p>
          <a:p>
            <a:pPr>
              <a:defRPr b="1" sz="1800"/>
            </a:pPr>
            <a:r>
              <a:t>3.3. 주요 기능/처리 로직</a:t>
            </a:r>
          </a:p>
          <a:p>
            <a:pPr lvl="1">
              <a:defRPr sz="1400"/>
            </a:pPr>
            <a:r>
              <a:t>  단가 이력관리: 금액정보 탭의 데이터(매입/매출 공급가, 부가세, 합계, 공병 보증금) 수정 시 적용 시작일을 함께 입력받아, 과거 단가 기록을 보존하고 지정된 날짜부터 새 단가가 전표에 적용되도록 구현. 변경 시 이력 로그 기록.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매입전표등록 (`PRCHS-SLIP-0100`)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1800"/>
            </a:pPr>
            <a:r>
              <a:t>4.1. 화면 레이아웃</a:t>
            </a:r>
          </a:p>
          <a:p>
            <a:pPr lvl="1">
              <a:defRPr sz="1400"/>
            </a:pPr>
            <a:r>
              <a:t>  상단 (마스터 영역): 전표일자(필수), 매입처 선택(팝업/자동완성), 담당자, 비고</a:t>
            </a:r>
          </a:p>
          <a:p>
            <a:pPr lvl="1">
              <a:defRPr sz="1400"/>
            </a:pPr>
            <a:r>
              <a:t>  중단 (디테일 영역): 입고 대상 상품 리스트 그리드 (행 추가/삭제 기능)</a:t>
            </a:r>
          </a:p>
          <a:p>
            <a:pPr lvl="1">
              <a:defRPr sz="1400"/>
            </a:pPr>
            <a:r>
              <a:t>  하단 (합계 영역): 총 매입 공급가, 총 부가세, 총 합계 금액, 할인 금액 등 계산 결과 표시</a:t>
            </a:r>
          </a:p>
          <a:p>
            <a:pPr lvl="1">
              <a:defRPr sz="1400"/>
            </a:pPr>
            <a:r>
              <a:t>  최하단 (버튼 영역): `[전표 저장]`, `[결재 상신]`</a:t>
            </a:r>
          </a:p>
          <a:p>
            <a:pPr>
              <a:defRPr b="1" sz="1800"/>
            </a:pPr>
            <a:r>
              <a:t>4.2. 주요 기능/처리 로직</a:t>
            </a:r>
          </a:p>
          <a:p>
            <a:pPr lvl="1">
              <a:defRPr sz="1400"/>
            </a:pPr>
            <a:r>
              <a:t>  상품 바코드 스캔 또는 검색을 통해 디테일 그리드에 상품 추가.</a:t>
            </a:r>
          </a:p>
          <a:p>
            <a:pPr lvl="1">
              <a:defRPr sz="1400"/>
            </a:pPr>
            <a:r>
              <a:t>  수량 입력 시 상품에 등록된 '매입 단가'를 불러와 라인별 금액 계산.</a:t>
            </a:r>
          </a:p>
          <a:p>
            <a:pPr lvl="1">
              <a:defRPr sz="1400"/>
            </a:pPr>
            <a:r>
              <a:t>  환경설정 연동 로직:</a:t>
            </a:r>
          </a:p>
          <a:p>
            <a:pPr lvl="2">
              <a:defRPr sz="1200"/>
            </a:pPr>
            <a:r>
              <a:t>  단위 부가세 계산: `STNG-MNG-0200`(매입처설정) 또는 `STNG-COM-0100`(공통설정)에 정의된 룰(절삭/절상/반올림)에 따라 계산.</a:t>
            </a:r>
          </a:p>
          <a:p>
            <a:pPr lvl="2">
              <a:defRPr sz="1200"/>
            </a:pPr>
            <a:r>
              <a:t>  상품 가격 부가세 적용 여부: 환경설정에서 지정한 '매입가격에 대한 부가세 적용' 룰을 따라 단가를 우선할지, 총액을 우선할지 연산.</a:t>
            </a:r>
          </a:p>
          <a:p>
            <a:pPr lvl="1">
              <a:defRPr sz="1400"/>
            </a:pPr>
            <a:r>
              <a:t>  저장 시 '재고 관리'에 즉시 입고(+) 반영, '채무 관리'에 해당 매입처의 외상매입금 잔액 증가 반영.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매출전표등록 (`SLS-SLIP-0100`)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1800"/>
            </a:pPr>
            <a:r>
              <a:t>5.1. 화면 레이아웃</a:t>
            </a:r>
          </a:p>
          <a:p>
            <a:pPr lvl="1">
              <a:defRPr sz="1400"/>
            </a:pPr>
            <a:r>
              <a:t>  상단 (마스터 영역): 전표일자(필수), 거래유형(`일반매출` / `자사소비` 라디오버튼 선택), 매출처 선택, 영업담당자, 비고</a:t>
            </a:r>
          </a:p>
          <a:p>
            <a:pPr lvl="1">
              <a:defRPr sz="1400"/>
            </a:pPr>
            <a:r>
              <a:t>  중단 (디테일 영역): 출고/소비 대상 상품 리스트 그리드 (행 추가/삭제 기능)</a:t>
            </a:r>
          </a:p>
          <a:p>
            <a:pPr lvl="1">
              <a:defRPr sz="1400"/>
            </a:pPr>
            <a:r>
              <a:t>  하단 (합계 영역): 총 매출 공급가, 총 부가세, 공병 보증금 합계, 총 합계 금액 표시</a:t>
            </a:r>
          </a:p>
          <a:p>
            <a:pPr lvl="1">
              <a:defRPr sz="1400"/>
            </a:pPr>
            <a:r>
              <a:t>  최하단 (버튼 영역): `[전표 저장]`, `[명세서 인쇄]`</a:t>
            </a:r>
          </a:p>
          <a:p>
            <a:pPr>
              <a:defRPr b="1" sz="1800"/>
            </a:pPr>
            <a:r>
              <a:t>5.2. 주요 기능/처리 로직</a:t>
            </a:r>
          </a:p>
          <a:p>
            <a:pPr lvl="1">
              <a:defRPr sz="1400"/>
            </a:pPr>
            <a:r>
              <a:t>  거래유형별 분기 처리:</a:t>
            </a:r>
          </a:p>
          <a:p>
            <a:pPr lvl="2">
              <a:defRPr sz="1200"/>
            </a:pPr>
            <a:r>
              <a:t>  일반매출: 매출 수익 인식. 단가는 상품의 '매출 단가' 적용. 저장 시 매출처 미수금(+) 증가 반영.</a:t>
            </a:r>
          </a:p>
          <a:p>
            <a:pPr lvl="2">
              <a:defRPr sz="1200"/>
            </a:pPr>
            <a:r>
              <a:t>  자사소비: 사내 행사, 접대, 시음용 등 내부 소비 목적. 매출처 선택 비활성화(자사로 고정). 미수금을 발생시키지 않고(회계상 비용/잡손실 처리), 재고만 출고(-) 차감 처리함.</a:t>
            </a:r>
          </a:p>
          <a:p>
            <a:pPr lvl="1">
              <a:defRPr sz="1400"/>
            </a:pPr>
            <a:r>
              <a:t>  선입선출(FIFO) 로직: 환경설정의 선입선출 여부가 '사용'일 경우, 저장 시 출고 수량만큼 오래된 매입단가(재고 Lot)부터 순차적으로 차감하여 매출 원가 계산 및 이력 반영.</a:t>
            </a:r>
          </a:p>
          <a:p>
            <a:pPr lvl="1">
              <a:defRPr sz="1400"/>
            </a:pPr>
            <a:r>
              <a:t>  환경설정 연동 로직: `STNG-MNG-0300` 또는 `STNG-COM-0100`에 정의된 단위 부가세 및 합계 금액 라운딩 룰(절삭/절상/반올림) 적용.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일/월 마감 관리 (`DDLN-MNG-0100`)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1800"/>
            </a:pPr>
            <a:r>
              <a:t>6.1. 화면 레이아웃</a:t>
            </a:r>
          </a:p>
          <a:p>
            <a:pPr lvl="1">
              <a:defRPr sz="1400"/>
            </a:pPr>
            <a:r>
              <a:t>  상단 (마스터 영역): 마감 연월(혹은 일자) 선택, 마감 대상 모듈(전체/매입/매출/수불 등) 선택, 조회 버튼</a:t>
            </a:r>
          </a:p>
          <a:p>
            <a:pPr lvl="1">
              <a:defRPr sz="1400"/>
            </a:pPr>
            <a:r>
              <a:t>  중단 (현황 그리드): 해당 기간의 처리 건수 및 금액(총 매입, 총 매출, 미수금, 미지급금 등) 요약 정보</a:t>
            </a:r>
          </a:p>
          <a:p>
            <a:pPr lvl="1">
              <a:defRPr sz="1400"/>
            </a:pPr>
            <a:r>
              <a:t>  하단 (버튼 영역): `[마감 처리]`, `[마감 취소]`</a:t>
            </a:r>
          </a:p>
          <a:p>
            <a:pPr>
              <a:defRPr b="1" sz="1800"/>
            </a:pPr>
            <a:r>
              <a:t>6.2. 주요 기능/처리 로직</a:t>
            </a:r>
          </a:p>
          <a:p>
            <a:pPr lvl="1">
              <a:defRPr sz="1400"/>
            </a:pPr>
            <a:r>
              <a:t>  마감 처리(Locking): </a:t>
            </a:r>
          </a:p>
          <a:p>
            <a:pPr lvl="2">
              <a:defRPr sz="1200"/>
            </a:pPr>
            <a:r>
              <a:t>  마감이 실행되면, 선택된 기준일자(마감일) 이전의 모든 매입전표, 매출전표, 채무/채권 발생 및 물류 수불 데이터의 상태가 '마감'으로 변경됨.</a:t>
            </a:r>
          </a:p>
          <a:p>
            <a:pPr lvl="2">
              <a:defRPr sz="1200"/>
            </a:pPr>
            <a:r>
              <a:t>  마감된 일자에 대해서는 어떠한 화면에서도 신규 등록, 데이터 수정, 삭제 작업이 원천 차단됨.</a:t>
            </a:r>
          </a:p>
          <a:p>
            <a:pPr lvl="1">
              <a:defRPr sz="1400"/>
            </a:pPr>
            <a:r>
              <a:t>  무결성 검증: 마감 실행 전 처리되지 않은 임시 전표나 수불 데이터의 에러(예: 재고 마이너스 상태 등)가 있는지 사전 검증하여 경고창 표출.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메뉴 등록 및 관리 (`SYS-MENU-0200`)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1800"/>
            </a:pPr>
            <a:r>
              <a:t>7.1. 화면 레이아웃</a:t>
            </a:r>
          </a:p>
          <a:p>
            <a:pPr lvl="1">
              <a:defRPr sz="1400"/>
            </a:pPr>
            <a:r>
              <a:t>  좌측 (메뉴 트리 영역): 등록된 전체 시스템 메뉴를 대/중/소분류의 트리(Tree) 구조로 표시 (Drag &amp; Drop으로 순서 변경 지원).</a:t>
            </a:r>
          </a:p>
          <a:p>
            <a:pPr lvl="1">
              <a:defRPr sz="1400"/>
            </a:pPr>
            <a:r>
              <a:t>  우측 (상세 영역): 좌측 트리에서 선택된 특정 메뉴 노드의 상세 정보 입력 폼</a:t>
            </a:r>
          </a:p>
          <a:p>
            <a:pPr lvl="1">
              <a:defRPr sz="1400"/>
            </a:pPr>
            <a:r>
              <a:t>  상단 (버튼 영역): `[하위메뉴 추가]`, `[저장]`, `[삭제]`</a:t>
            </a:r>
          </a:p>
          <a:p>
            <a:pPr>
              <a:defRPr b="1" sz="1800"/>
            </a:pPr>
            <a:r>
              <a:t>7.2. 입력 항목 (상세 영역)</a:t>
            </a:r>
          </a:p>
          <a:p>
            <a:pPr lvl="1">
              <a:defRPr sz="1400"/>
            </a:pPr>
            <a:r>
              <a:t>  기본 정보: 상위 메뉴명(읽기전용), 메뉴 ID(자동생성 또는 수동입력), 메뉴명(필수)</a:t>
            </a:r>
          </a:p>
          <a:p>
            <a:pPr lvl="1">
              <a:defRPr sz="1400"/>
            </a:pPr>
            <a:r>
              <a:t>  속성 정보: 메뉴 URL (화면 경로), 정렬 순서(숫자), 아이콘(클래스명)</a:t>
            </a:r>
          </a:p>
          <a:p>
            <a:pPr lvl="1">
              <a:defRPr sz="1400"/>
            </a:pPr>
            <a:r>
              <a:t>  상태: 사용 여부 (사용/미사용 - 미사용 시 메뉴 바 및 권한 설정 화면에서 숨김 처리)</a:t>
            </a:r>
          </a:p>
          <a:p>
            <a:pPr>
              <a:defRPr b="1" sz="1800"/>
            </a:pPr>
            <a:r>
              <a:t>7.3. 주요 기능/처리 로직</a:t>
            </a:r>
          </a:p>
          <a:p>
            <a:pPr lvl="1">
              <a:defRPr sz="1400"/>
            </a:pPr>
            <a:r>
              <a:t>  계층 구조 관리: 1Depth(대분류), 2Depth(중분류), 3Depth(화면)까지의 계층을 무한 또는 제한적으로 생성 가능.</a:t>
            </a:r>
          </a:p>
          <a:p>
            <a:pPr lvl="1">
              <a:defRPr sz="1400"/>
            </a:pPr>
            <a:r>
              <a:t>  권한 화면 연동: 본 화면에서 등록/수정된 메뉴 트리 정보는 `SYS-AUTHRT-0300`(권한 관리) 화면의 권한 부여 대상 메뉴 트리로 실시간 동기화됨.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메뉴 및 버튼 권한 관리 (`SYS-AUTHRT-0300`)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1800"/>
            </a:pPr>
            <a:r>
              <a:t>8.1. 화면 레이아웃</a:t>
            </a:r>
          </a:p>
          <a:p>
            <a:pPr lvl="1">
              <a:defRPr sz="1400"/>
            </a:pPr>
            <a:r>
              <a:t>  좌측 (그룹/사용자 영역): 권한을 부여할 대상(사용자 그룹 또는 특정 사용자) 리스트 트리/그리드</a:t>
            </a:r>
          </a:p>
          <a:p>
            <a:pPr lvl="1">
              <a:defRPr sz="1400"/>
            </a:pPr>
            <a:r>
              <a:t>  우측 상단 (메뉴 권한 영역): 전체 시스템 메뉴 트리 및 체크박스 (접근 권한 부여)</a:t>
            </a:r>
          </a:p>
          <a:p>
            <a:pPr lvl="1">
              <a:defRPr sz="1400"/>
            </a:pPr>
            <a:r>
              <a:t>  우측 하단 (버튼 권한 영역): 우측 상단에서 선택된 특정 메뉴(화면) 내의 개별 기능 버튼(조회, 신규, 저장, 삭제, 인쇄, 엑셀다운 등) 리스트 및 체크박스</a:t>
            </a:r>
          </a:p>
          <a:p>
            <a:pPr lvl="1">
              <a:defRPr sz="1400"/>
            </a:pPr>
            <a:r>
              <a:t>  상단 (버튼 영역): `[저장]`, `[초기화]`</a:t>
            </a:r>
          </a:p>
          <a:p>
            <a:pPr>
              <a:defRPr b="1" sz="1800"/>
            </a:pPr>
            <a:r>
              <a:t>8.2. 주요 기능/처리 로직</a:t>
            </a:r>
          </a:p>
          <a:p>
            <a:pPr lvl="1">
              <a:defRPr sz="1400"/>
            </a:pPr>
            <a:r>
              <a:t>  권한 상속 및 예외 처리: 기본적으로 '사용자 그룹(예: 영업부, 회계부)' 단위로 메뉴 및 버튼 권한을 일괄 부여하고, 필요 시 개별 사용자 단위로 예외 권한을 설정하는 로직 구현.</a:t>
            </a:r>
          </a:p>
          <a:p>
            <a:pPr lvl="1">
              <a:defRPr sz="1400"/>
            </a:pPr>
            <a:r>
              <a:t>  동적 UI 렌더링: 사용자가 시스템 로그인 시, 본 화면에서 설정된 권한 데이터를 바탕으로 좌측 LNB(메뉴바) 및 각 화면의 기능 버튼 렌더링을 동적으로 제어(권한 없는 버튼은 숨김 또는 비활성화 처리).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매출처 지원품 관리 (`SLS-SPRT-0300`)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1800"/>
            </a:pPr>
            <a:r>
              <a:t>9.1. 화면 레이아웃</a:t>
            </a:r>
          </a:p>
          <a:p>
            <a:pPr lvl="1">
              <a:defRPr sz="1400"/>
            </a:pPr>
            <a:r>
              <a:t>  상단 (검색 영역): 지원 기간, 매출처, 지원 구분(전체/물품/현금), 진행 상태(진행중/완료)</a:t>
            </a:r>
          </a:p>
          <a:p>
            <a:pPr lvl="1">
              <a:defRPr sz="1400"/>
            </a:pPr>
            <a:r>
              <a:t>  중단 (목록 영역): 등록된 지원 내역 리스트 그리드</a:t>
            </a:r>
          </a:p>
          <a:p>
            <a:pPr lvl="1">
              <a:defRPr sz="1400"/>
            </a:pPr>
            <a:r>
              <a:t>  하단 (상세 영역): 선택된 지원건의 상세 정보 및 회수 현황 입력 폼 (탭 구조: 기본 약정 정보 / 상세(물품/현금) 내역 및 이력)</a:t>
            </a:r>
          </a:p>
          <a:p>
            <a:pPr lvl="1">
              <a:defRPr sz="1400"/>
            </a:pPr>
            <a:r>
              <a:t>  우측 상단 (버튼 영역): `[신규]`, `[저장]`, `[삭제]`</a:t>
            </a:r>
          </a:p>
          <a:p>
            <a:pPr>
              <a:defRPr b="1" sz="1800"/>
            </a:pPr>
            <a:r>
              <a:t>9.2. 입력 항목 (상세 영역)</a:t>
            </a:r>
          </a:p>
          <a:p>
            <a:pPr lvl="1">
              <a:defRPr sz="1400"/>
            </a:pPr>
            <a:r>
              <a:t>  [기본 약정 정보 탭]</a:t>
            </a:r>
          </a:p>
          <a:p>
            <a:pPr lvl="2">
              <a:defRPr sz="1200"/>
            </a:pPr>
            <a:r>
              <a:t>  매출처 선택, 약정 기간(시작일~종료일), 약정 조건(특정 기간 내 목표 매출액 등), 지원 유형(물품 지원 / 현금성 지원 라디오버튼)</a:t>
            </a:r>
          </a:p>
          <a:p>
            <a:pPr lvl="2">
              <a:defRPr sz="1200"/>
            </a:pPr>
            <a:r>
              <a:t>  상태: 진행중, 완료(조건달성/회수완료), 중도해지 등</a:t>
            </a:r>
          </a:p>
          <a:p>
            <a:pPr lvl="1">
              <a:defRPr sz="1400"/>
            </a:pPr>
            <a:r>
              <a:t>  [상세 내역 및 이력 탭 - 물품 지원 시]</a:t>
            </a:r>
          </a:p>
          <a:p>
            <a:pPr lvl="2">
              <a:defRPr sz="1200"/>
            </a:pPr>
            <a:r>
              <a:t>  지원 구분 드롭다운: 지원, 회수, 망실, 소모품</a:t>
            </a:r>
          </a:p>
          <a:p>
            <a:pPr lvl="2">
              <a:defRPr sz="1200"/>
            </a:pPr>
            <a:r>
              <a:t>  지원 품목 리스트 (냉장고, 홍보물, 잔 등), 수량, 단가, 지급일.</a:t>
            </a:r>
          </a:p>
          <a:p>
            <a:pPr lvl="1">
              <a:defRPr sz="1400"/>
            </a:pPr>
            <a:r>
              <a:t>  [상세 내역 및 이력 탭 - 현금성 지원 시]</a:t>
            </a:r>
          </a:p>
          <a:p>
            <a:pPr lvl="2">
              <a:defRPr sz="1200"/>
            </a:pPr>
            <a:r>
              <a:t>  총 지원(대여) 금액, 지급일자, 상환 방식(분할 상환, 매출 연동 상계 등).</a:t>
            </a:r>
          </a:p>
          <a:p>
            <a:pPr lvl="2">
              <a:defRPr sz="1200"/>
            </a:pPr>
            <a:r>
              <a:t>  회수 스케줄 및 실제 회수(수금) 내역 리스트 등록 폼.</a:t>
            </a:r>
          </a:p>
          <a:p>
            <a:pPr>
              <a:defRPr b="1" sz="1800"/>
            </a:pPr>
            <a:r>
              <a:t>9.3. 주요 기능/처리 로직</a:t>
            </a:r>
          </a:p>
          <a:p>
            <a:pPr lvl="1">
              <a:defRPr sz="1400"/>
            </a:pPr>
            <a:r>
              <a:t>  약정 조건 트래킹: 입력된 약정 기간 및 목표 매출액과 실제 '매출전표' 데이터를 비교하여 달성률을 조회하는 기능 지원.</a:t>
            </a:r>
          </a:p>
          <a:p>
            <a:pPr lvl="1">
              <a:defRPr sz="1400"/>
            </a:pPr>
            <a:r>
              <a:t>  물품 상태 관리: '지원' 상태인 물품에 대해 추후 '회수' 또는 '망실(파손/분실)' 처리를 할 수 있도록 이력형 그리드로 구성. '소모품'의 경우 일회성 비용으로 처리.</a:t>
            </a:r>
          </a:p>
          <a:p>
            <a:pPr lvl="1">
              <a:defRPr sz="1400"/>
            </a:pPr>
            <a:r>
              <a:t>  현금 회수 로직: 현금성 지원의 경우 특정 기간 동안 분할 회수하는 내역을 기록하며, 채권(미수금) 데이터와 연동하여 관리할 수 있는 구조 제공.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